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  <p:embeddedFont>
      <p:font typeface="Sor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17258"/>
            <a:ext cx="83754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CUSTOMER SHOPPING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258491"/>
            <a:ext cx="776585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Customer shopping behavior points to three growth levers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3636566"/>
            <a:ext cx="776585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3,900 purchases reveal a loyal base, underdeveloped subscriptions, and clear opportunities to improve acquisition and discount discipline.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business already has a strong revenue 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321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sizable revenue base with a consistent average order value.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15530"/>
          <a:ext cx="6400640" cy="914400"/>
        </p:xfrm>
        <a:graphic>
          <a:graphicData uri="http://schemas.openxmlformats.org/drawingml/2006/table">
            <a:tbl>
              <a:tblPr/>
              <a:tblGrid>
                <a:gridCol w="2432188"/>
                <a:gridCol w="3968452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Metric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Value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Total revenue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$233,081 across 3,900 purchases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Average purchase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$59.76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Average rating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3.75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4819" y="1786930"/>
            <a:ext cx="4267192" cy="2427585"/>
          </a:xfrm>
          <a:prstGeom prst="roundRect">
            <a:avLst>
              <a:gd name="adj" fmla="val 1331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543314" y="2533967"/>
            <a:ext cx="381010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is broad-based across four product categories and four age groups.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202310" y="6453545"/>
            <a:ext cx="78946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690862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Loyalty is the engine, but acquisition is the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8233"/>
            <a:ext cx="690862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customer base is overwhelmingly loyal, with very few new customers entering.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83681"/>
            <a:ext cx="5968851" cy="330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27797" y="0"/>
            <a:ext cx="4063898" cy="6858000"/>
          </a:xfrm>
          <a:prstGeom prst="roundRect">
            <a:avLst>
              <a:gd name="adj" fmla="val 797"/>
            </a:avLst>
          </a:prstGeom>
          <a:solidFill>
            <a:srgbClr val="E4EAEF"/>
          </a:solidFill>
          <a:ln/>
        </p:spPr>
      </p:sp>
      <p:sp>
        <p:nvSpPr>
          <p:cNvPr id="6" name="Text 3"/>
          <p:cNvSpPr/>
          <p:nvPr/>
        </p:nvSpPr>
        <p:spPr>
          <a:xfrm>
            <a:off x="8737381" y="1330821"/>
            <a:ext cx="34543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MIX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737381" y="1990626"/>
            <a:ext cx="2844729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79.9%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737381" y="3082746"/>
            <a:ext cx="345431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3,116 loyal customers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737381" y="3640534"/>
            <a:ext cx="938685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0" name="Text 7"/>
          <p:cNvSpPr/>
          <p:nvPr/>
        </p:nvSpPr>
        <p:spPr>
          <a:xfrm>
            <a:off x="8737381" y="3928685"/>
            <a:ext cx="284472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2.1%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83 new customers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737381" y="4729659"/>
            <a:ext cx="284472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Protect the loyal base while building a stronger flow of first-time customers.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98441" y="6453545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73552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Repeat buyers are only slightly more likely to subscribe, so loyalty alone is not converting. Subscription growth will require benefits customers can feel, not just a recurring billing option.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858948"/>
            <a:ext cx="3657509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Subscriptions are underpenetrated and not yet differentiated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877066"/>
            <a:ext cx="365750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Subscriptions reach 27% of customers but do not yet increase average spend.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33652"/>
            <a:ext cx="3657509" cy="2984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093" y="609600"/>
            <a:ext cx="7315017" cy="5066903"/>
          </a:xfrm>
          <a:prstGeom prst="roundRect">
            <a:avLst>
              <a:gd name="adj" fmla="val 639"/>
            </a:avLst>
          </a:prstGeom>
          <a:solidFill>
            <a:srgbClr val="E4EAEF"/>
          </a:solidFill>
          <a:ln/>
        </p:spPr>
      </p:sp>
      <p:sp>
        <p:nvSpPr>
          <p:cNvPr id="7" name="Text 4"/>
          <p:cNvSpPr/>
          <p:nvPr/>
        </p:nvSpPr>
        <p:spPr>
          <a:xfrm>
            <a:off x="4495489" y="1867595"/>
            <a:ext cx="74675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SUBSCRIPTION PENETRATION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95489" y="2352675"/>
            <a:ext cx="685792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27%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495489" y="3444895"/>
            <a:ext cx="746751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1,053 customers subscribe.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495489" y="3935909"/>
            <a:ext cx="2263024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4495489" y="4154884"/>
            <a:ext cx="746751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Subscribers average $59.49 versus $59.87 for non-subscribers.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98044" y="6501170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Discounts are working hardest on a handful of products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180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20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Discounting is concentrated near 50% of purchases for the most dependent products.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43262"/>
            <a:ext cx="10159746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600285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These products may be relying on price cuts to convert, creating a margin and positioning question.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196159" y="6520220"/>
            <a:ext cx="7957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oundRect">
            <a:avLst>
              <a:gd name="adj" fmla="val 724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147689"/>
            <a:ext cx="38607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PURCHASE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09585" y="2786856"/>
            <a:ext cx="325111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$60.48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3656330"/>
            <a:ext cx="386070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Express shipping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503142"/>
            <a:ext cx="38607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+$2.02 versus standard shipping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79873" y="630547"/>
            <a:ext cx="6502237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Express shoppers signal willingness to spend slightly more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79873" y="2193449"/>
            <a:ext cx="65022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Shipping speed can be positioned as a premium convenience benefit.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3314998"/>
            <a:ext cx="6502237" cy="279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9873" y="5720060"/>
            <a:ext cx="71118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Express customers spend about $2 more per purchase, roughly 3.5%.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99532" y="6453545"/>
            <a:ext cx="79244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Revenue is spread across age groups, with Young Adults narrowly ahead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823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is balanced across age groups, with Young Adults slightly ahead.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5488484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opportunity is broad targeting with tailored messages, not overcommitting to one age segment.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64321"/>
            <a:ext cx="3657509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093" y="2242145"/>
            <a:ext cx="7315017" cy="3049389"/>
          </a:xfrm>
          <a:prstGeom prst="roundRect">
            <a:avLst>
              <a:gd name="adj" fmla="val 1062"/>
            </a:avLst>
          </a:prstGeom>
          <a:solidFill>
            <a:srgbClr val="E4EAEF"/>
          </a:solidFill>
          <a:ln/>
        </p:spPr>
      </p:sp>
      <p:sp>
        <p:nvSpPr>
          <p:cNvPr id="7" name="Text 4"/>
          <p:cNvSpPr/>
          <p:nvPr/>
        </p:nvSpPr>
        <p:spPr>
          <a:xfrm>
            <a:off x="4495489" y="2474218"/>
            <a:ext cx="74675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SHARE OF REVENUE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95489" y="2899382"/>
            <a:ext cx="685792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26.7%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495489" y="3552051"/>
            <a:ext cx="746751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Young Adult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495489" y="4043164"/>
            <a:ext cx="2263024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4495489" y="4262041"/>
            <a:ext cx="68579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Middle-aged 25.4%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Adult 24.0%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Senior 23.9%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204394" y="6453545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Product demand is distributed rather than concentrated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823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Ratings and order counts are tightly grouped, so no single product dominates.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2277070"/>
            <a:ext cx="3555911" cy="2682577"/>
          </a:xfrm>
          <a:prstGeom prst="roundRect">
            <a:avLst>
              <a:gd name="adj" fmla="val 1204"/>
            </a:avLst>
          </a:prstGeom>
          <a:noFill/>
          <a:ln w="19050">
            <a:solidFill>
              <a:srgbClr val="CDD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328" y="2528391"/>
            <a:ext cx="36698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TOP-RATED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7328" y="2939276"/>
            <a:ext cx="306022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Gloves </a:t>
            </a:r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3.86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7328" y="3499545"/>
            <a:ext cx="306022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Sandals 3.84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Boots 3.82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17892" y="2277070"/>
            <a:ext cx="3555911" cy="2682577"/>
          </a:xfrm>
          <a:prstGeom prst="roundRect">
            <a:avLst>
              <a:gd name="adj" fmla="val 1204"/>
            </a:avLst>
          </a:prstGeom>
          <a:noFill/>
          <a:ln w="19050">
            <a:solidFill>
              <a:srgbClr val="CDD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5635" y="2528391"/>
            <a:ext cx="36698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 ORDER LEADERS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65635" y="2868632"/>
            <a:ext cx="306022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Jewelry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Blouse · Pants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Sandals · Jacket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26199" y="2277070"/>
            <a:ext cx="3555911" cy="2682577"/>
          </a:xfrm>
          <a:prstGeom prst="roundRect">
            <a:avLst>
              <a:gd name="adj" fmla="val 1204"/>
            </a:avLst>
          </a:prstGeom>
          <a:solidFill>
            <a:srgbClr val="E4EAEF"/>
          </a:solidFill>
          <a:ln w="19050">
            <a:solidFill>
              <a:srgbClr val="CD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3942" y="2528391"/>
            <a:ext cx="36698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IMPLICATION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73942" y="2939276"/>
            <a:ext cx="306022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a portfolio approach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73942" y="3910905"/>
            <a:ext cx="306022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Spotlight proven products while testing broader merchandising stories.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195961" y="6453545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analytics workflow makes the findings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321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value is the chain from clean data to decisions, not any single tool.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4710628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Clean data → business questions → decision-ready views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1872853"/>
            <a:ext cx="3454314" cy="2581077"/>
          </a:xfrm>
          <a:prstGeom prst="roundRect">
            <a:avLst>
              <a:gd name="adj" fmla="val 1252"/>
            </a:avLst>
          </a:prstGeom>
          <a:noFill/>
          <a:ln w="19050">
            <a:solidFill>
              <a:srgbClr val="CDD0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535" y="2074783"/>
            <a:ext cx="83579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7328" y="2422823"/>
            <a:ext cx="2958629" cy="1905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57328" y="2578021"/>
            <a:ext cx="295862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Python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328" y="3138289"/>
            <a:ext cx="2958629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Cleaned 3,900 rows, filled 37 missing ratings, standardized fields and engineered age/frequency features.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8691" y="1872853"/>
            <a:ext cx="3454314" cy="2581077"/>
          </a:xfrm>
          <a:prstGeom prst="roundRect">
            <a:avLst>
              <a:gd name="adj" fmla="val 1252"/>
            </a:avLst>
          </a:prstGeom>
          <a:noFill/>
          <a:ln w="19050">
            <a:solidFill>
              <a:srgbClr val="CD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1641" y="2074783"/>
            <a:ext cx="87875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16434" y="2422823"/>
            <a:ext cx="2958629" cy="1905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6434" y="2578021"/>
            <a:ext cx="295862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SQL Server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6434" y="3138289"/>
            <a:ext cx="2958629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Answered 10 business questions across revenue, products, shipping, subscriptions and segments.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27797" y="1872853"/>
            <a:ext cx="3454314" cy="2581077"/>
          </a:xfrm>
          <a:prstGeom prst="roundRect">
            <a:avLst>
              <a:gd name="adj" fmla="val 1252"/>
            </a:avLst>
          </a:prstGeom>
          <a:noFill/>
          <a:ln w="19050">
            <a:solidFill>
              <a:srgbClr val="CD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540" y="1918216"/>
            <a:ext cx="27492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375540" y="2422823"/>
            <a:ext cx="2958629" cy="1905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540" y="2578021"/>
            <a:ext cx="295862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Power BI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75540" y="3138289"/>
            <a:ext cx="295862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Translated the findings into KPIs, slicers and category, age and subscription views.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199334" y="6453545"/>
            <a:ext cx="79254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14010"/>
            <a:ext cx="1030579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60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Prioritize subscription value, acquisition, and margin discipline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65156" y="2039541"/>
            <a:ext cx="103057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near-term play is to convert existing loyalty into higher-value relationships while rebuilding the top of the funnel.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5156" y="3004741"/>
            <a:ext cx="1939182" cy="3324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3"/>
          <p:cNvSpPr/>
          <p:nvPr/>
        </p:nvSpPr>
        <p:spPr>
          <a:xfrm>
            <a:off x="993750" y="323334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3750" y="3535561"/>
            <a:ext cx="148199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93750" y="3692664"/>
            <a:ext cx="148199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Boost subscriptions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3750" y="4456807"/>
            <a:ext cx="148199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Add exclusive benefits for loyal repeat buyers.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856734" y="3004741"/>
            <a:ext cx="1939281" cy="3324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8"/>
          <p:cNvSpPr/>
          <p:nvPr/>
        </p:nvSpPr>
        <p:spPr>
          <a:xfrm>
            <a:off x="3085328" y="323334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085328" y="3535561"/>
            <a:ext cx="148199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085328" y="3692664"/>
            <a:ext cx="148209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Build acquisition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5328" y="4456807"/>
            <a:ext cx="148209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Create a deliberate path from new to returning customers.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948411" y="3004741"/>
            <a:ext cx="1939182" cy="3324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5" name="Text 13"/>
          <p:cNvSpPr/>
          <p:nvPr/>
        </p:nvSpPr>
        <p:spPr>
          <a:xfrm>
            <a:off x="5177006" y="3233341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77006" y="3535561"/>
            <a:ext cx="148199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177006" y="3692664"/>
            <a:ext cx="148199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Protect loyalty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7006" y="4456807"/>
            <a:ext cx="148199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Reward the 80% of customers already in the Loyal segment.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39990" y="3004741"/>
            <a:ext cx="1939281" cy="3324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0" name="Text 18"/>
          <p:cNvSpPr/>
          <p:nvPr/>
        </p:nvSpPr>
        <p:spPr>
          <a:xfrm>
            <a:off x="7268584" y="3233341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268584" y="3535561"/>
            <a:ext cx="148199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268584" y="3692664"/>
            <a:ext cx="14820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Review discount policy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8584" y="4765377"/>
            <a:ext cx="1482093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 alternatives on products discounted in about half of purchases.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131667" y="3004741"/>
            <a:ext cx="1939182" cy="3324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5" name="Text 23"/>
          <p:cNvSpPr/>
          <p:nvPr/>
        </p:nvSpPr>
        <p:spPr>
          <a:xfrm>
            <a:off x="9360261" y="3233341"/>
            <a:ext cx="8877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360261" y="3535561"/>
            <a:ext cx="148199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9360261" y="3692664"/>
            <a:ext cx="148199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targeted positioning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60261" y="4456807"/>
            <a:ext cx="1481993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Combine top-rated products, broad age appeal and premium shipping cues.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2026-10-29T10:42:33Z</dcterms:created>
  <dcterms:modified xsi:type="dcterms:W3CDTF">2026-10-29T10:42:33Z</dcterms:modified>
</cp:coreProperties>
</file>